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000" y="1872000"/>
            <a:ext cx="4320000" cy="43200"/>
          </a:xfrm>
          <a:prstGeom prst="rect">
            <a:avLst/>
          </a:prstGeom>
          <a:solidFill>
            <a:srgbClr val="7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2160000"/>
            <a:ext cx="9360000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3800" b="1">
                <a:solidFill>
                  <a:srgbClr val="1A1A18"/>
                </a:solidFill>
                <a:latin typeface="바탕"/>
              </a:rPr>
              <a:t>게임 닉네임의</a:t>
            </a:r>
          </a:p>
          <a:p>
            <a:pPr>
              <a:spcAft>
                <a:spcPts val="1400"/>
              </a:spcAft>
            </a:pPr>
            <a:r>
              <a:rPr sz="3800" b="1">
                <a:solidFill>
                  <a:srgbClr val="1A1A18"/>
                </a:solidFill>
                <a:latin typeface="바탕"/>
              </a:rPr>
              <a:t>형태·의미 분석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B6760"/>
                </a:solidFill>
                <a:latin typeface="맑은 고딕"/>
              </a:rPr>
              <a:t>선행연구 18편을 읽고 정리한 결과와, 아직 아무도 하지 않은 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5616000"/>
            <a:ext cx="936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6760"/>
                </a:solidFill>
                <a:latin typeface="맑은 고딕"/>
              </a:rPr>
              <a:t>AI기반콘텐츠창업워크숍2  ·  2026.10.14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40000"/>
            <a:ext cx="10440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A1A18"/>
                </a:solidFill>
                <a:latin typeface="바탕"/>
              </a:rPr>
              <a:t>한눈에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6760"/>
                </a:solidFill>
                <a:latin typeface="맑은 고딕"/>
              </a:rPr>
              <a:t>OpenAlex 세 갈래 검색 → 중복 제거 128편 → 주제 적중 72편 → 정리 대상 18편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000" y="1548000"/>
            <a:ext cx="10620000" cy="18000"/>
          </a:xfrm>
          <a:prstGeom prst="rect">
            <a:avLst/>
          </a:prstGeom>
          <a:solidFill>
            <a:srgbClr val="DC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2340000"/>
            <a:ext cx="32400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1">
                <a:solidFill>
                  <a:srgbClr val="7A2E1E"/>
                </a:solidFill>
                <a:latin typeface="바탕"/>
              </a:rPr>
              <a:t>18</a:t>
            </a:r>
            <a:r>
              <a:rPr sz="1500">
                <a:solidFill>
                  <a:srgbClr val="6B6760"/>
                </a:solidFill>
                <a:latin typeface="맑은 고딕"/>
              </a:rPr>
              <a:t>  편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6760"/>
                </a:solidFill>
                <a:latin typeface="맑은 고딕"/>
              </a:rPr>
              <a:t>본 발표에서 다루는 선행연구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4392000"/>
            <a:ext cx="2951999" cy="18000"/>
          </a:xfrm>
          <a:prstGeom prst="rect">
            <a:avLst/>
          </a:prstGeom>
          <a:solidFill>
            <a:srgbClr val="DC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63999" y="2340000"/>
            <a:ext cx="32400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1">
                <a:solidFill>
                  <a:srgbClr val="7A2E1E"/>
                </a:solidFill>
                <a:latin typeface="바탕"/>
              </a:rPr>
              <a:t>11</a:t>
            </a:r>
            <a:r>
              <a:rPr sz="1500">
                <a:solidFill>
                  <a:srgbClr val="6B6760"/>
                </a:solidFill>
                <a:latin typeface="맑은 고딕"/>
              </a:rPr>
              <a:t>  개 언어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6760"/>
                </a:solidFill>
                <a:latin typeface="맑은 고딕"/>
              </a:rPr>
              <a:t>선행연구가 다룬 언어의 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4463999" y="4392000"/>
            <a:ext cx="2951999" cy="18000"/>
          </a:xfrm>
          <a:prstGeom prst="rect">
            <a:avLst/>
          </a:prstGeom>
          <a:solidFill>
            <a:srgbClr val="DC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5999" y="2340000"/>
            <a:ext cx="32400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1">
                <a:solidFill>
                  <a:srgbClr val="7A2E1E"/>
                </a:solidFill>
                <a:latin typeface="바탕"/>
              </a:rPr>
              <a:t>44</a:t>
            </a:r>
            <a:r>
              <a:rPr sz="1500">
                <a:solidFill>
                  <a:srgbClr val="6B6760"/>
                </a:solidFill>
                <a:latin typeface="맑은 고딕"/>
              </a:rPr>
              <a:t>  년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6760"/>
                </a:solidFill>
                <a:latin typeface="맑은 고딕"/>
              </a:rPr>
              <a:t>1982년부터 2026년까지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5999" y="4392000"/>
            <a:ext cx="2951999" cy="18000"/>
          </a:xfrm>
          <a:prstGeom prst="rect">
            <a:avLst/>
          </a:prstGeom>
          <a:solidFill>
            <a:srgbClr val="DC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4896000"/>
            <a:ext cx="104400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7A2E1E"/>
                </a:solidFill>
                <a:latin typeface="맑은 고딕"/>
              </a:rPr>
              <a:t>한국어와 일본어를 다룬 연구는 한 편도 찾지 못했다.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B6760"/>
                </a:solidFill>
                <a:latin typeface="맑은 고딕"/>
              </a:rPr>
              <a:t>11개 언어가 모두 유럽·아프리카·중동·중국어권에 몰려 있어서, 한국어 닉네임을 같은 틀로 분석하는 일은 아직 비어 있는 자리로 남아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40000"/>
            <a:ext cx="10440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A1A18"/>
                </a:solidFill>
                <a:latin typeface="바탕"/>
              </a:rPr>
              <a:t>선행연구는 두 갈래로 나뉜다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6760"/>
                </a:solidFill>
                <a:latin typeface="맑은 고딕"/>
              </a:rPr>
              <a:t>그리고 두 갈래는 아직 만나지 않았다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000" y="1548000"/>
            <a:ext cx="10620000" cy="18000"/>
          </a:xfrm>
          <a:prstGeom prst="rect">
            <a:avLst/>
          </a:prstGeom>
          <a:solidFill>
            <a:srgbClr val="DC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872000"/>
            <a:ext cx="504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7A2E1E"/>
                </a:solidFill>
                <a:latin typeface="맑은 고딕"/>
              </a:rPr>
              <a:t>방법론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1A18"/>
                </a:solidFill>
                <a:latin typeface="바탕"/>
              </a:rPr>
              <a:t>무엇으로 분석할 것인가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2736000"/>
            <a:ext cx="4860000" cy="18000"/>
          </a:xfrm>
          <a:prstGeom prst="rect">
            <a:avLst/>
          </a:prstGeom>
          <a:solidFill>
            <a:srgbClr val="DC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2916000"/>
            <a:ext cx="504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250" b="0">
                <a:solidFill>
                  <a:srgbClr val="1A1A18"/>
                </a:solidFill>
                <a:latin typeface="맑은 고딕"/>
              </a:rPr>
              <a:t>Stuart &amp; Botella (2009) — 코퍼스에서 동시출현 행렬을 거쳐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A1A18"/>
                </a:solidFill>
                <a:latin typeface="맑은 고딕"/>
              </a:rPr>
              <a:t>semantic network 로 가는 절차를 단계로 정리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A1A18"/>
                </a:solidFill>
                <a:latin typeface="맑은 고딕"/>
              </a:rPr>
              <a:t/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A1A18"/>
                </a:solidFill>
                <a:latin typeface="맑은 고딕"/>
              </a:rPr>
              <a:t>Omodei, Cointet &amp; Poibeau (2014) — 언어 패턴과 통계를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A1A18"/>
                </a:solidFill>
                <a:latin typeface="맑은 고딕"/>
              </a:rPr>
              <a:t>섞어 키워드를 뽑고 네트워크를 세움 (LREC'14)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A1A18"/>
                </a:solidFill>
                <a:latin typeface="맑은 고딕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7A2E1E"/>
                </a:solidFill>
                <a:latin typeface="맑은 고딕"/>
              </a:rPr>
              <a:t>→ 일반 코퍼스를 대상으로 했다. 닉네임에 쓴 사례는 없다.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872000"/>
            <a:ext cx="504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7A2E1E"/>
                </a:solidFill>
                <a:latin typeface="맑은 고딕"/>
              </a:rPr>
              <a:t>대상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1A18"/>
                </a:solidFill>
                <a:latin typeface="바탕"/>
              </a:rPr>
              <a:t>무엇을 분석할 것인가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0" y="2736000"/>
            <a:ext cx="4860000" cy="18000"/>
          </a:xfrm>
          <a:prstGeom prst="rect">
            <a:avLst/>
          </a:prstGeom>
          <a:solidFill>
            <a:srgbClr val="DC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0" y="2916000"/>
            <a:ext cx="504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250" b="0">
                <a:solidFill>
                  <a:srgbClr val="1A1A18"/>
                </a:solidFill>
                <a:latin typeface="맑은 고딕"/>
              </a:rPr>
              <a:t>Leslie &amp; Skipper (1990) — 사회 오노마스틱스의 출발점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A1A18"/>
                </a:solidFill>
                <a:latin typeface="맑은 고딕"/>
              </a:rPr>
              <a:t>Hassanein (2019) — 게임 사용자명의 조어·완곡어법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A1A18"/>
                </a:solidFill>
                <a:latin typeface="맑은 고딕"/>
              </a:rPr>
              <a:t>Kaziaba (2022) — 루넷 5,000건 다층위 분석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A1A18"/>
                </a:solidFill>
                <a:latin typeface="맑은 고딕"/>
              </a:rPr>
              <a:t>Klimova (2020) — 비디오 게임 닉네임의 기능과 변이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A1A18"/>
                </a:solidFill>
                <a:latin typeface="맑은 고딕"/>
              </a:rPr>
              <a:t>Taji (2024) — 스와힐리어 닉네임 형태·의미 분석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A1A18"/>
                </a:solidFill>
                <a:latin typeface="맑은 고딕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7A2E1E"/>
                </a:solidFill>
                <a:latin typeface="맑은 고딕"/>
              </a:rPr>
              <a:t>→ 모두 사람이 손으로 분류했다. 최대 7,456건.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40000"/>
            <a:ext cx="10440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A1A18"/>
                </a:solidFill>
                <a:latin typeface="바탕"/>
              </a:rPr>
              <a:t>닉네임 연구는 이렇게 흘러왔다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6760"/>
                </a:solidFill>
                <a:latin typeface="맑은 고딕"/>
              </a:rPr>
              <a:t>오프라인 별명 연구에서 출발해 온라인으로, 다시 전산으로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000" y="1548000"/>
            <a:ext cx="10620000" cy="18000"/>
          </a:xfrm>
          <a:prstGeom prst="rect">
            <a:avLst/>
          </a:prstGeom>
          <a:solidFill>
            <a:srgbClr val="DC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52000" y="3384000"/>
            <a:ext cx="9900000" cy="21600"/>
          </a:xfrm>
          <a:prstGeom prst="rect">
            <a:avLst/>
          </a:prstGeom>
          <a:solidFill>
            <a:srgbClr val="C9B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2232000"/>
            <a:ext cx="2232000" cy="936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7A2E1E"/>
                </a:solidFill>
                <a:latin typeface="바탕"/>
              </a:rPr>
              <a:t>1990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8"/>
                </a:solidFill>
                <a:latin typeface="맑은 고딕"/>
              </a:rPr>
              <a:t>사회 오노마스틱스</a:t>
            </a:r>
          </a:p>
        </p:txBody>
      </p:sp>
      <p:sp>
        <p:nvSpPr>
          <p:cNvPr id="6" name="Oval 5"/>
          <p:cNvSpPr/>
          <p:nvPr/>
        </p:nvSpPr>
        <p:spPr>
          <a:xfrm>
            <a:off x="1854000" y="3294000"/>
            <a:ext cx="180000" cy="180000"/>
          </a:xfrm>
          <a:prstGeom prst="ellipse">
            <a:avLst/>
          </a:prstGeom>
          <a:solidFill>
            <a:srgbClr val="7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3708000"/>
            <a:ext cx="2232000" cy="1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760"/>
                </a:solidFill>
                <a:latin typeface="맑은 고딕"/>
              </a:rPr>
              <a:t>Leslie &amp; Skipper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760"/>
                </a:solidFill>
                <a:latin typeface="맑은 고딕"/>
              </a:rPr>
              <a:t>별명 연구의 이론 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4000" y="2232000"/>
            <a:ext cx="2232000" cy="936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7A2E1E"/>
                </a:solidFill>
                <a:latin typeface="바탕"/>
              </a:rPr>
              <a:t>2012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8"/>
                </a:solidFill>
                <a:latin typeface="맑은 고딕"/>
              </a:rPr>
              <a:t>디지털로 이동</a:t>
            </a:r>
          </a:p>
        </p:txBody>
      </p:sp>
      <p:sp>
        <p:nvSpPr>
          <p:cNvPr id="9" name="Oval 8"/>
          <p:cNvSpPr/>
          <p:nvPr/>
        </p:nvSpPr>
        <p:spPr>
          <a:xfrm>
            <a:off x="4086000" y="3294000"/>
            <a:ext cx="180000" cy="180000"/>
          </a:xfrm>
          <a:prstGeom prst="ellipse">
            <a:avLst/>
          </a:prstGeom>
          <a:solidFill>
            <a:srgbClr val="7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4000" y="3708000"/>
            <a:ext cx="2232000" cy="1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760"/>
                </a:solidFill>
                <a:latin typeface="맑은 고딕"/>
              </a:rPr>
              <a:t>Hassa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760"/>
                </a:solidFill>
                <a:latin typeface="맑은 고딕"/>
              </a:rPr>
              <a:t>사용자명을 자기표현으로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6000" y="2232000"/>
            <a:ext cx="2232000" cy="936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7A2E1E"/>
                </a:solidFill>
                <a:latin typeface="바탕"/>
              </a:rPr>
              <a:t>2015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8"/>
                </a:solidFill>
                <a:latin typeface="맑은 고딕"/>
              </a:rPr>
              <a:t>전산적 접근</a:t>
            </a:r>
          </a:p>
        </p:txBody>
      </p:sp>
      <p:sp>
        <p:nvSpPr>
          <p:cNvPr id="12" name="Oval 11"/>
          <p:cNvSpPr/>
          <p:nvPr/>
        </p:nvSpPr>
        <p:spPr>
          <a:xfrm>
            <a:off x="6318000" y="3294000"/>
            <a:ext cx="180000" cy="180000"/>
          </a:xfrm>
          <a:prstGeom prst="ellipse">
            <a:avLst/>
          </a:prstGeom>
          <a:solidFill>
            <a:srgbClr val="7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6000" y="3708000"/>
            <a:ext cx="2232000" cy="1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760"/>
                </a:solidFill>
                <a:latin typeface="맑은 고딕"/>
              </a:rPr>
              <a:t>Jaech &amp; Ostendorf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760"/>
                </a:solidFill>
                <a:latin typeface="맑은 고딕"/>
              </a:rPr>
              <a:t>사용자명으로 속성 예측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000" y="2232000"/>
            <a:ext cx="2232000" cy="936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7A2E1E"/>
                </a:solidFill>
                <a:latin typeface="바탕"/>
              </a:rPr>
              <a:t>2020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8"/>
                </a:solidFill>
                <a:latin typeface="맑은 고딕"/>
              </a:rPr>
              <a:t>게임으로</a:t>
            </a:r>
          </a:p>
        </p:txBody>
      </p:sp>
      <p:sp>
        <p:nvSpPr>
          <p:cNvPr id="15" name="Oval 14"/>
          <p:cNvSpPr/>
          <p:nvPr/>
        </p:nvSpPr>
        <p:spPr>
          <a:xfrm>
            <a:off x="8550000" y="3294000"/>
            <a:ext cx="180000" cy="180000"/>
          </a:xfrm>
          <a:prstGeom prst="ellipse">
            <a:avLst/>
          </a:prstGeom>
          <a:solidFill>
            <a:srgbClr val="7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000" y="3708000"/>
            <a:ext cx="2232000" cy="1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760"/>
                </a:solidFill>
                <a:latin typeface="맑은 고딕"/>
              </a:rPr>
              <a:t>Klimova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760"/>
                </a:solidFill>
                <a:latin typeface="맑은 고딕"/>
              </a:rPr>
              <a:t>비디오 게임 닉네임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2232000"/>
            <a:ext cx="2232000" cy="936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7A2E1E"/>
                </a:solidFill>
                <a:latin typeface="바탕"/>
              </a:rPr>
              <a:t>2024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8"/>
                </a:solidFill>
                <a:latin typeface="맑은 고딕"/>
              </a:rPr>
              <a:t>비유럽 언어</a:t>
            </a:r>
          </a:p>
        </p:txBody>
      </p:sp>
      <p:sp>
        <p:nvSpPr>
          <p:cNvPr id="18" name="Oval 17"/>
          <p:cNvSpPr/>
          <p:nvPr/>
        </p:nvSpPr>
        <p:spPr>
          <a:xfrm>
            <a:off x="10782000" y="3294000"/>
            <a:ext cx="180000" cy="180000"/>
          </a:xfrm>
          <a:prstGeom prst="ellipse">
            <a:avLst/>
          </a:prstGeom>
          <a:solidFill>
            <a:srgbClr val="7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0000" y="3708000"/>
            <a:ext cx="2232000" cy="1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760"/>
                </a:solidFill>
                <a:latin typeface="맑은 고딕"/>
              </a:rPr>
              <a:t>Taji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760"/>
                </a:solidFill>
                <a:latin typeface="맑은 고딕"/>
              </a:rPr>
              <a:t>스와힐리어 형태·의미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5256000"/>
            <a:ext cx="10440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B6760"/>
                </a:solidFill>
                <a:latin typeface="맑은 고딕"/>
              </a:rPr>
              <a:t>전산적 접근은 2015년에 이미 나왔지만 그때 푼 문제는 사용자명으로 사용자의 나이와 성별을 맞히는 일이었고, 닉네임을 언어학적 층위로 분류하는 쪽으로는 아무도 가지 않았다.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40000"/>
            <a:ext cx="10440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A1A18"/>
                </a:solidFill>
                <a:latin typeface="바탕"/>
              </a:rPr>
              <a:t>핵심 논문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6760"/>
                </a:solidFill>
                <a:latin typeface="맑은 고딕"/>
              </a:rPr>
              <a:t>교수님께서 주신 7편 중 6편의 서지정보를 확정했고, 11편을 새로 찾았다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000" y="1548000"/>
            <a:ext cx="10620000" cy="18000"/>
          </a:xfrm>
          <a:prstGeom prst="rect">
            <a:avLst/>
          </a:prstGeom>
          <a:solidFill>
            <a:srgbClr val="DC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2000" y="1872000"/>
          <a:ext cx="106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720000"/>
                <a:gridCol w="2880000"/>
                <a:gridCol w="3960000"/>
                <a:gridCol w="900000"/>
              </a:tblGrid>
              <a:tr h="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8F4"/>
                          </a:solidFill>
                          <a:latin typeface="맑은 고딕"/>
                        </a:rPr>
                        <a:t>저자</a:t>
                      </a:r>
                    </a:p>
                  </a:txBody>
                  <a:tcPr>
                    <a:solidFill>
                      <a:srgbClr val="7A2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8F4"/>
                          </a:solidFill>
                          <a:latin typeface="맑은 고딕"/>
                        </a:rPr>
                        <a:t>연도</a:t>
                      </a:r>
                    </a:p>
                  </a:txBody>
                  <a:tcPr>
                    <a:solidFill>
                      <a:srgbClr val="7A2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8F4"/>
                          </a:solidFill>
                          <a:latin typeface="맑은 고딕"/>
                        </a:rPr>
                        <a:t>수록</a:t>
                      </a:r>
                    </a:p>
                  </a:txBody>
                  <a:tcPr>
                    <a:solidFill>
                      <a:srgbClr val="7A2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8F4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7A2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8F4"/>
                          </a:solidFill>
                          <a:latin typeface="맑은 고딕"/>
                        </a:rPr>
                        <a:t>피인용</a:t>
                      </a:r>
                    </a:p>
                  </a:txBody>
                  <a:tcPr>
                    <a:solidFill>
                      <a:srgbClr val="7A2E1E"/>
                    </a:solidFill>
                  </a:tcPr>
                </a:tc>
              </a:tr>
              <a:tr h="8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8"/>
                          </a:solidFill>
                          <a:latin typeface="맑은 고딕"/>
                        </a:rPr>
                        <a:t>Leslie &amp; Skipper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1990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Names 38(4)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별명의 사회 오노마스틱스 이론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6760"/>
                          </a:solidFill>
                          <a:latin typeface="맑은 고딕"/>
                        </a:rPr>
                        <a:t>77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8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8"/>
                          </a:solidFill>
                          <a:latin typeface="맑은 고딕"/>
                        </a:rPr>
                        <a:t>van der Nagel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2017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Internet Histories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사용자명에서 프로필로, 익명성의 변천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6760"/>
                          </a:solidFill>
                          <a:latin typeface="맑은 고딕"/>
                        </a:rPr>
                        <a:t>65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8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8"/>
                          </a:solidFill>
                          <a:latin typeface="맑은 고딕"/>
                        </a:rPr>
                        <a:t>Jaech &amp; Ostendorf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2015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EMNLP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사용자명으로 사용자 속성 예측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6760"/>
                          </a:solidFill>
                          <a:latin typeface="맑은 고딕"/>
                        </a:rPr>
                        <a:t>24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8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8"/>
                          </a:solidFill>
                          <a:latin typeface="맑은 고딕"/>
                        </a:rPr>
                        <a:t>Hassa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2012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Names 60(2)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디지털 세계의 자기 노출로서 사용자명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6760"/>
                          </a:solidFill>
                          <a:latin typeface="맑은 고딕"/>
                        </a:rPr>
                        <a:t>23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8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8"/>
                          </a:solidFill>
                          <a:latin typeface="맑은 고딕"/>
                        </a:rPr>
                        <a:t>Hassanein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2019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Int. J. English Linguistics 9(5)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게임 사용자명의 조어와 완곡어법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676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8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8"/>
                          </a:solidFill>
                          <a:latin typeface="맑은 고딕"/>
                        </a:rPr>
                        <a:t>Klimova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2020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Вопросы ономастики 17(3)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비디오 게임 닉네임의 기능과 변이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676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8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8"/>
                          </a:solidFill>
                          <a:latin typeface="맑은 고딕"/>
                        </a:rPr>
                        <a:t>Kaziaba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2022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Nauchnyi Dialog 11(7)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루넷 자기명명의 인명적 기능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6760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8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8"/>
                          </a:solidFill>
                          <a:latin typeface="맑은 고딕"/>
                        </a:rPr>
                        <a:t>Taji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2024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Nomina Africana 38(1)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8"/>
                          </a:solidFill>
                          <a:latin typeface="맑은 고딕"/>
                        </a:rPr>
                        <a:t>스와힐리어 닉네임 형태·의미 분석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676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2000" y="5976000"/>
            <a:ext cx="1044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6760"/>
                </a:solidFill>
                <a:latin typeface="맑은 고딕"/>
              </a:rPr>
              <a:t>Szymański(2013)은 DOI와 수록지를 끝내 확인하지 못해 미확인으로 남긴다.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40000"/>
            <a:ext cx="10440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A1A18"/>
                </a:solidFill>
                <a:latin typeface="바탕"/>
              </a:rPr>
              <a:t>어떤 언어가 연구되었나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6760"/>
                </a:solidFill>
                <a:latin typeface="맑은 고딕"/>
              </a:rPr>
              <a:t>선행연구 16편이 대상으로 삼은 언어권 (방법론 2편 제외)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000" y="1548000"/>
            <a:ext cx="10620000" cy="18000"/>
          </a:xfrm>
          <a:prstGeom prst="rect">
            <a:avLst/>
          </a:prstGeom>
          <a:solidFill>
            <a:srgbClr val="DC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2250000"/>
            <a:ext cx="252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8"/>
                </a:solidFill>
                <a:latin typeface="맑은 고딕"/>
              </a:rPr>
              <a:t>영어권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4000" y="2340000"/>
            <a:ext cx="5760000" cy="270000"/>
          </a:xfrm>
          <a:prstGeom prst="rect">
            <a:avLst/>
          </a:prstGeom>
          <a:solidFill>
            <a:srgbClr val="EE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4000" y="2340000"/>
            <a:ext cx="5760000" cy="270000"/>
          </a:xfrm>
          <a:prstGeom prst="rect">
            <a:avLst/>
          </a:prstGeom>
          <a:solidFill>
            <a:srgbClr val="7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88000" y="2268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7A2E1E"/>
                </a:solidFill>
                <a:latin typeface="맑은 고딕"/>
              </a:rPr>
              <a:t>5편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2880000"/>
            <a:ext cx="252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8"/>
                </a:solidFill>
                <a:latin typeface="맑은 고딕"/>
              </a:rPr>
              <a:t>슬라브어권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4000" y="2970000"/>
            <a:ext cx="5760000" cy="270000"/>
          </a:xfrm>
          <a:prstGeom prst="rect">
            <a:avLst/>
          </a:prstGeom>
          <a:solidFill>
            <a:srgbClr val="EE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4000" y="2970000"/>
            <a:ext cx="4608000" cy="270000"/>
          </a:xfrm>
          <a:prstGeom prst="rect">
            <a:avLst/>
          </a:prstGeom>
          <a:solidFill>
            <a:srgbClr val="7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8000" y="2898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7A2E1E"/>
                </a:solidFill>
                <a:latin typeface="맑은 고딕"/>
              </a:rPr>
              <a:t>4편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3510000"/>
            <a:ext cx="252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8"/>
                </a:solidFill>
                <a:latin typeface="맑은 고딕"/>
              </a:rPr>
              <a:t>아프리카어권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4000" y="3600000"/>
            <a:ext cx="5760000" cy="270000"/>
          </a:xfrm>
          <a:prstGeom prst="rect">
            <a:avLst/>
          </a:prstGeom>
          <a:solidFill>
            <a:srgbClr val="EE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4000" y="3600000"/>
            <a:ext cx="3456000" cy="270000"/>
          </a:xfrm>
          <a:prstGeom prst="rect">
            <a:avLst/>
          </a:prstGeom>
          <a:solidFill>
            <a:srgbClr val="7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8000" y="3528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7A2E1E"/>
                </a:solidFill>
                <a:latin typeface="맑은 고딕"/>
              </a:rPr>
              <a:t>3편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4140000"/>
            <a:ext cx="252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8"/>
                </a:solidFill>
                <a:latin typeface="맑은 고딕"/>
              </a:rPr>
              <a:t>기타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4000" y="4230000"/>
            <a:ext cx="5760000" cy="270000"/>
          </a:xfrm>
          <a:prstGeom prst="rect">
            <a:avLst/>
          </a:prstGeom>
          <a:solidFill>
            <a:srgbClr val="EE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4000" y="4230000"/>
            <a:ext cx="4608000" cy="270000"/>
          </a:xfrm>
          <a:prstGeom prst="rect">
            <a:avLst/>
          </a:prstGeom>
          <a:solidFill>
            <a:srgbClr val="7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8000" y="4158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7A2E1E"/>
                </a:solidFill>
                <a:latin typeface="맑은 고딕"/>
              </a:rPr>
              <a:t>4편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4770000"/>
            <a:ext cx="252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7A2E1E"/>
                </a:solidFill>
                <a:latin typeface="맑은 고딕"/>
              </a:rPr>
              <a:t>한국어·일본어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4000" y="4860000"/>
            <a:ext cx="5760000" cy="270000"/>
          </a:xfrm>
          <a:prstGeom prst="rect">
            <a:avLst/>
          </a:prstGeom>
          <a:solidFill>
            <a:srgbClr val="EE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8000" y="4788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6B6760"/>
                </a:solidFill>
                <a:latin typeface="맑은 고딕"/>
              </a:rPr>
              <a:t>0편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000" y="5616000"/>
            <a:ext cx="10440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A1A18"/>
                </a:solidFill>
                <a:latin typeface="맑은 고딕"/>
              </a:rPr>
              <a:t>비유럽 언어 연구가 없다는 말은 틀렸다.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B6760"/>
                </a:solidFill>
                <a:latin typeface="맑은 고딕"/>
              </a:rPr>
              <a:t>스와힐리어·응움보어·중국어·페르시아어를 다룬 연구가 이미 있고, 진짜 문제는 연구마다 분류 체계가 달라서 열한 갈래로 쌓인 결과를 서로 포개 볼 수 없다는 데 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40000"/>
            <a:ext cx="10440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A1A18"/>
                </a:solidFill>
                <a:latin typeface="바탕"/>
              </a:rPr>
              <a:t>그래서 무엇이 비어 있나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000" y="1548000"/>
            <a:ext cx="10620000" cy="18000"/>
          </a:xfrm>
          <a:prstGeom prst="rect">
            <a:avLst/>
          </a:prstGeom>
          <a:solidFill>
            <a:srgbClr val="DC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0" y="1908000"/>
            <a:ext cx="43200" cy="1080000"/>
          </a:xfrm>
          <a:prstGeom prst="rect">
            <a:avLst/>
          </a:prstGeom>
          <a:solidFill>
            <a:srgbClr val="7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4000" y="1835999"/>
            <a:ext cx="10080000" cy="11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1A1A18"/>
                </a:solidFill>
                <a:latin typeface="바탕"/>
              </a:rPr>
              <a:t>분류 체계가 제각각이다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B6760"/>
                </a:solidFill>
                <a:latin typeface="맑은 고딕"/>
              </a:rPr>
              <a:t>11개 언어가 각각 연구되었지만 분류 틀이 연구마다 다르다. 같은 기준으로 다시 분류해야 언어 간 비교가 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00" y="3383999"/>
            <a:ext cx="43200" cy="1080000"/>
          </a:xfrm>
          <a:prstGeom prst="rect">
            <a:avLst/>
          </a:prstGeom>
          <a:solidFill>
            <a:srgbClr val="7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4000" y="3311999"/>
            <a:ext cx="10080000" cy="11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1A1A18"/>
                </a:solidFill>
                <a:latin typeface="바탕"/>
              </a:rPr>
              <a:t>전산적 접근의 방향이 다르다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B6760"/>
                </a:solidFill>
                <a:latin typeface="맑은 고딕"/>
              </a:rPr>
              <a:t>Jaech &amp; Ostendorf(2015)는 사용자명으로 나이·성별을 맞혔다. 언어학적 층위로 분류한 전산 연구는 찾지 못했다.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4859999"/>
            <a:ext cx="43200" cy="1080000"/>
          </a:xfrm>
          <a:prstGeom prst="rect">
            <a:avLst/>
          </a:prstGeom>
          <a:solidFill>
            <a:srgbClr val="7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4000" y="4788000"/>
            <a:ext cx="10080000" cy="11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1A1A18"/>
                </a:solidFill>
                <a:latin typeface="바탕"/>
              </a:rPr>
              <a:t>동기는 설문으로만 물었다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B6760"/>
                </a:solidFill>
                <a:latin typeface="맑은 고딕"/>
              </a:rPr>
              <a:t>작명 동기를 다룬 연구는 면접·설문에 의존한다. 닉네임과 실제 플레이 행위를 연결한 연구는 없다.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40000"/>
            <a:ext cx="10440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A1A18"/>
                </a:solidFill>
                <a:latin typeface="바탕"/>
              </a:rPr>
              <a:t>제안하는 연구 방향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6760"/>
                </a:solidFill>
                <a:latin typeface="맑은 고딕"/>
              </a:rPr>
              <a:t>앞의 세 공백을 순서대로 겨냥한다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000" y="1548000"/>
            <a:ext cx="10620000" cy="18000"/>
          </a:xfrm>
          <a:prstGeom prst="rect">
            <a:avLst/>
          </a:prstGeom>
          <a:solidFill>
            <a:srgbClr val="DC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908000"/>
            <a:ext cx="72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C9B8A8"/>
                </a:solidFill>
                <a:latin typeface="바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8000" y="1943999"/>
            <a:ext cx="9720000" cy="93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A1A18"/>
                </a:solidFill>
                <a:latin typeface="바탕"/>
              </a:rPr>
              <a:t>분류 체계를 코드로 옮긴다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6B6760"/>
                </a:solidFill>
                <a:latin typeface="맑은 고딕"/>
              </a:rPr>
              <a:t>Dubiec-Stach의 네 층위(의미·형태·통사·문자)를 LLM 프롬프트로 구현한다. 손으로 하던 분류를 자동화하는 것이 1차 목표다.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3078000"/>
            <a:ext cx="72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C9B8A8"/>
                </a:solidFill>
                <a:latin typeface="바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8000" y="3114000"/>
            <a:ext cx="9720000" cy="93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A1A18"/>
                </a:solidFill>
                <a:latin typeface="바탕"/>
              </a:rPr>
              <a:t>다국어로 넓힌다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6B6760"/>
                </a:solidFill>
                <a:latin typeface="맑은 고딕"/>
              </a:rPr>
              <a:t>같은 체계를 언어별로 적용해 비교 가능한 결과를 만든다. 한국어를 넣어 첫 번째 공백을 직접 메운다.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4248000"/>
            <a:ext cx="72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C9B8A8"/>
                </a:solidFill>
                <a:latin typeface="바탕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8000" y="4284000"/>
            <a:ext cx="9720000" cy="93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A1A18"/>
                </a:solidFill>
                <a:latin typeface="바탕"/>
              </a:rPr>
              <a:t>semantic network 를 붙인다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6B6760"/>
                </a:solidFill>
                <a:latin typeface="맑은 고딕"/>
              </a:rPr>
              <a:t>닉네임 구성 요소를 키워드로 보고 동시출현 네트워크를 그린다. Stuart &amp; Botella의 절차를 닉네임 자료에 처음 적용하는 지점이다.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418000"/>
            <a:ext cx="72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C9B8A8"/>
                </a:solidFill>
                <a:latin typeface="바탕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8000" y="5454000"/>
            <a:ext cx="9720000" cy="93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A1A18"/>
                </a:solidFill>
                <a:latin typeface="바탕"/>
              </a:rPr>
              <a:t>동기와 행위를 잇는다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6B6760"/>
                </a:solidFill>
                <a:latin typeface="맑은 고딕"/>
              </a:rPr>
              <a:t>분류 결과를 플레이 데이터와 대조한다. 설문 없이 동기를 보는 길이다.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40000"/>
            <a:ext cx="10440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A1A18"/>
                </a:solidFill>
                <a:latin typeface="바탕"/>
              </a:rPr>
              <a:t>참고문헌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B6760"/>
                </a:solidFill>
                <a:latin typeface="맑은 고딕"/>
              </a:rPr>
              <a:t>DOI를 확인한 것만 적는다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000" y="1548000"/>
            <a:ext cx="10620000" cy="18000"/>
          </a:xfrm>
          <a:prstGeom prst="rect">
            <a:avLst/>
          </a:prstGeom>
          <a:solidFill>
            <a:srgbClr val="DC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872000"/>
            <a:ext cx="5148000" cy="39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950" b="0">
                <a:solidFill>
                  <a:srgbClr val="1A1A18"/>
                </a:solidFill>
                <a:latin typeface="맑은 고딕"/>
              </a:rPr>
              <a:t>Stuart, K., &amp; Botella, A. (2009). Corpus Linguistics, Network Analysis and Co-occurrence Matrices. Int. J. English Studies, 9(1). doi:10.6018/ijes.1.1.99481</a:t>
            </a:r>
          </a:p>
          <a:p>
            <a:pPr>
              <a:spcAft>
                <a:spcPts val="700"/>
              </a:spcAft>
            </a:pPr>
            <a:r>
              <a:rPr sz="950" b="0">
                <a:solidFill>
                  <a:srgbClr val="1A1A18"/>
                </a:solidFill>
                <a:latin typeface="맑은 고딕"/>
              </a:rPr>
              <a:t>Omodei, E., Cointet, J.-P., &amp; Poibeau, T. (2014). Mapping the NLP Domain: Experiments using the ACL Anthology. LREC'14, 2972–2978. doi:10.63317/4hcdpzpoxfj8</a:t>
            </a:r>
          </a:p>
          <a:p>
            <a:pPr>
              <a:spcAft>
                <a:spcPts val="700"/>
              </a:spcAft>
            </a:pPr>
            <a:r>
              <a:rPr sz="950" b="0">
                <a:solidFill>
                  <a:srgbClr val="1A1A18"/>
                </a:solidFill>
                <a:latin typeface="맑은 고딕"/>
              </a:rPr>
              <a:t>Leslie, P. L., &amp; Skipper, J. K. (1990). Toward a Theory of Nicknames. Names, 38(4), 273. doi:10.1179/nam.1990.38.4.273</a:t>
            </a:r>
          </a:p>
          <a:p>
            <a:pPr>
              <a:spcAft>
                <a:spcPts val="700"/>
              </a:spcAft>
            </a:pPr>
            <a:r>
              <a:rPr sz="950" b="0">
                <a:solidFill>
                  <a:srgbClr val="1A1A18"/>
                </a:solidFill>
                <a:latin typeface="맑은 고딕"/>
              </a:rPr>
              <a:t>Hassa, S. (2012). Projecting, Exposing, Revealing Self in the Digital World. Names, 60(2). doi:10.1179/0027773812z.00000000031</a:t>
            </a:r>
          </a:p>
          <a:p>
            <a:pPr>
              <a:spcAft>
                <a:spcPts val="700"/>
              </a:spcAft>
            </a:pPr>
            <a:r>
              <a:rPr sz="950" b="0">
                <a:solidFill>
                  <a:srgbClr val="1A1A18"/>
                </a:solidFill>
                <a:latin typeface="맑은 고딕"/>
              </a:rPr>
              <a:t>Jaech, A., &amp; Ostendorf, M. (2015). What Your Username Says About You. EMNLP. doi:10.18653/v1/d15-1240</a:t>
            </a:r>
          </a:p>
          <a:p>
            <a:pPr>
              <a:spcAft>
                <a:spcPts val="700"/>
              </a:spcAft>
            </a:pPr>
            <a:r>
              <a:rPr sz="950" b="0">
                <a:solidFill>
                  <a:srgbClr val="1A1A18"/>
                </a:solidFill>
                <a:latin typeface="맑은 고딕"/>
              </a:rPr>
              <a:t>van der Nagel, E. (2017). From usernames to profiles. Internet Histories. doi:10.1080/24701475.2017.1389548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0" y="1872000"/>
            <a:ext cx="5148000" cy="39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950" b="0">
                <a:solidFill>
                  <a:srgbClr val="1A1A18"/>
                </a:solidFill>
                <a:latin typeface="맑은 고딕"/>
              </a:rPr>
              <a:t>Hassanein, H. S. A. (2019). GD Usernames and Euphemism: A Morphosemantic Analysis. Int. J. English Linguistics, 9(5), 107. doi:10.5539/ijel.v9n5p107</a:t>
            </a:r>
          </a:p>
          <a:p>
            <a:pPr>
              <a:spcAft>
                <a:spcPts val="700"/>
              </a:spcAft>
            </a:pPr>
            <a:r>
              <a:rPr sz="950" b="0">
                <a:solidFill>
                  <a:srgbClr val="1A1A18"/>
                </a:solidFill>
                <a:latin typeface="맑은 고딕"/>
              </a:rPr>
              <a:t>Klimova, M. A. (2020). Nicknames in Video Gaming. Вопросы ономастики, 17(3). doi:10.15826/vopr_onom.2020.17.3.045</a:t>
            </a:r>
          </a:p>
          <a:p>
            <a:pPr>
              <a:spcAft>
                <a:spcPts val="700"/>
              </a:spcAft>
            </a:pPr>
            <a:r>
              <a:rPr sz="950" b="0">
                <a:solidFill>
                  <a:srgbClr val="1A1A18"/>
                </a:solidFill>
                <a:latin typeface="맑은 고딕"/>
              </a:rPr>
              <a:t>Dubiec-Stach, J. (2021). Nick – tożsamość w Internecie. doi:10.5604/01.3001.0015.6126</a:t>
            </a:r>
          </a:p>
          <a:p>
            <a:pPr>
              <a:spcAft>
                <a:spcPts val="700"/>
              </a:spcAft>
            </a:pPr>
            <a:r>
              <a:rPr sz="950" b="0">
                <a:solidFill>
                  <a:srgbClr val="1A1A18"/>
                </a:solidFill>
                <a:latin typeface="맑은 고딕"/>
              </a:rPr>
              <a:t>Kaziaba, V. V. (2022). Self-Nominations with Function of Anthroponym in Runet. Nauchnyi Dialog, 11(7), 212–230. doi:10.24224/2227-1295-2022-11-7-212-230</a:t>
            </a:r>
          </a:p>
          <a:p>
            <a:pPr>
              <a:spcAft>
                <a:spcPts val="700"/>
              </a:spcAft>
            </a:pPr>
            <a:r>
              <a:rPr sz="950" b="0">
                <a:solidFill>
                  <a:srgbClr val="1A1A18"/>
                </a:solidFill>
                <a:latin typeface="맑은 고딕"/>
              </a:rPr>
              <a:t>Taji, J. (2024). A morphosemantic analysis of personal nicknames in Swahili. Nomina Africana, 38(1). doi:10.2989/na.2024.38.1.4.1382</a:t>
            </a:r>
          </a:p>
          <a:p>
            <a:pPr>
              <a:spcAft>
                <a:spcPts val="700"/>
              </a:spcAft>
            </a:pPr>
            <a:r>
              <a:rPr sz="950" b="0">
                <a:solidFill>
                  <a:srgbClr val="1A1A18"/>
                </a:solidFill>
                <a:latin typeface="맑은 고딕"/>
              </a:rPr>
              <a:t>Chobotar, V. I. (2026). Digital onomastics. Current Issues in Philology and Pedagogical Linguistics. doi:10.29025/2079-6021-2026-2-123-131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5868000"/>
            <a:ext cx="1062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B6760"/>
                </a:solidFill>
                <a:latin typeface="맑은 고딕"/>
              </a:rPr>
              <a:t>Szymański (2013) — 서지정보 미확인. 교수님 목록의 Fomin &amp; Chobotar (2022)는 Chobotar (2026)으로만 확인되어 별건일 수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